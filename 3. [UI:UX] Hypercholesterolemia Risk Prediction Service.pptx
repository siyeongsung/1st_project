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92" r:id="rId3"/>
    <p:sldId id="297" r:id="rId4"/>
    <p:sldId id="300" r:id="rId5"/>
    <p:sldId id="299" r:id="rId6"/>
    <p:sldId id="301" r:id="rId7"/>
    <p:sldId id="302" r:id="rId8"/>
    <p:sldId id="305" r:id="rId9"/>
    <p:sldId id="30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E2839-6E82-524A-AF14-6F8B9A2A22FC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D123A-3837-F24F-A8F7-B4D01EB09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66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6783-4BBF-EF99-A767-0326BDC5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263F20-9F7F-EB19-3396-1989F7A6D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39478-378E-79F6-C290-75D415D69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3B600-1AD3-7F7A-1A97-8F30EDF73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711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3CCD-0F83-E777-856A-A3F68A48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23DD2-D278-E97A-D015-A8B0242B3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BF7DB-D2F1-34E0-772B-E54C85BA2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DBA212-484D-82E1-4B96-89012F112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567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63C2-DAB8-2303-1499-32A43021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953FEF-EB7D-D468-F2E1-92BE703F1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4CF1B-7C66-78E9-3C13-FA8C13A1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A7F98-F186-72E9-AED9-C40F3B007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2435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5685-1682-D799-47E7-DBE930F3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C20D0C-AEC2-6F85-C01D-AADB61F26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6714E-0CE8-4933-A44A-C840EB654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659F0-9B55-216B-3481-6F0C5F35A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4162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DC28-90A5-D78D-A458-82B79F44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29F6F-E495-7941-7714-FE16F41CD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A6706B-F69E-3069-3FBB-D16DA0A22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B6EFB-DC6A-41C8-B732-AB1F9B4CD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741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7D58D-4BF8-9170-73CD-AFE27C8E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8C2810-2E3B-B513-7012-134625FDD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23AD0A-135C-7358-6EB7-21A0A569B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0D925-46E6-F7A3-BD7D-1B0FA7271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70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DE18-F9B2-964A-5E58-96AEF1B8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6304A-8BCB-8131-25DA-70D678A21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AA9244-F457-968F-D505-EEFB19A0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00D0E-3508-85D3-A638-A9E97746B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3783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BE70-441E-56F7-4E49-F6624D4B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3E6D3-8ACB-59F8-DEB4-B0AA819F0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CF80EC-580E-5434-AF4C-B8FCA52C8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37F3C-1307-3AF6-FB02-4B9F66C31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3543B-5911-8540-8F46-6D4FBCA13325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832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4ABC6-7097-7F13-33A2-A24E4CB69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C6398E-150A-EE60-1346-3208E464B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D0AD98-235D-178B-3118-1931FCB2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6C31C-0F20-277F-10FB-518404C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F8E66-6450-0925-241C-4D640B08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772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AF3A-2295-A44E-09C8-0110B1EA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1FF05-8AF9-1498-324B-F868219F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96127-E683-B03B-1252-459FDCF4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55E46-433E-F34C-C11A-DC00EC90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12B2FD-6289-C5C5-5020-48CCF366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278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03444-FBD5-1858-9F45-D79F16D7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69F13-A5F2-22DB-BE01-A1FA31B5D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D0B6F-D520-71DE-25C6-6276AC1D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BBEF2D-CA27-F82A-C600-12B89C49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072EB-E7C2-43F3-95B4-3EFF9534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683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2C136-7949-61F5-F230-B3CDAAD9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831D9-5478-7C87-FB96-A82B3A99C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B2DF4-B52F-9167-45AB-7752964BB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063FA-0150-CD00-3EF9-47BD7875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5CF4B7-3A31-2ECE-4B49-FCA326FE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8D898-10CB-E994-8300-9FEBFFA8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99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DFCE9-60E8-00A8-AB6F-BF2B5DFF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79999-9897-65A5-827D-08483BE2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8000F-4F6A-CDC2-8E1C-ED4F98CBD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8F31B8-6B8F-900D-77C7-531B28B7E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FAB6A7-3ECB-C830-0B6C-6DB9B92A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7044CA-F0BD-9FE3-9FAD-6259E007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2471A0-BE8F-5D30-61B2-65AAA374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CADF05-8664-929E-A837-2650B917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027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EF8F9-A9B8-4183-9151-5E1E7DA7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BBF211-3B2A-2605-E971-CB2AC216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3D7CA7-C3D7-2D7A-F9D9-FC36301C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9AAD90-A8FD-4D4B-6CCF-816DB0D7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881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58B5C4-7775-0AAB-AE62-A9304D1D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1E5FDA-C5D2-FCEF-7D68-C6B2F605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BD4BE-F45C-C0D9-5E9C-DD7D413C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93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2E7E4-B6BD-D1C9-9FBA-02C010A7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508AB-5075-EB3A-74B9-AB5D4E499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E8F869-ED63-9950-4A9C-C7D65B101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8E791-A462-AD3E-EB88-3CE0CC1B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6867BC-3136-D211-27DC-B344FEB3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C3A0C0-6070-D61B-3D92-1E00258F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314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6D798-FB0B-E7F8-C320-D61CAC13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D0E307-4BF1-0C61-F27F-7E2AC179A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7ABB78-4E60-8C3E-0D35-3DFECD10C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C54C2A-E59E-A12E-1D8B-80922DBB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5EA60-F4E1-4020-FDE6-25F62714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64AA6-8198-B1FA-DA23-5794B91E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155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C9C15-9FCF-6FA2-D8E9-C95C30A4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CBEE4A-AE9E-2B3F-B715-36FDB43D6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0A958-7B42-0AE6-D5C6-25BE7EC8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5FE23-C6C9-C95C-167F-AC40430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8507EB-E0A0-6537-3BE0-0120A7B1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801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B2922-D745-3AD4-70D5-DBE381707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880C36-BA2C-E20C-D3F5-2EA33F44D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007B5-9EFA-DE1A-87E1-FCA603DE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B413-9C4B-034C-BCED-D540A5F9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1CB79-305C-3B76-85EB-1406C912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886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CF66F9-0A63-E84A-462F-C6C1B482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AD457-3CE7-9AD3-FCD2-D2820271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E43B79-974C-0B6E-97E5-3AFD873E4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74E8E-AA64-0741-9F7E-7645C7D69728}" type="datetimeFigureOut">
              <a:rPr kumimoji="1" lang="ko-KR" altLang="en-US" smtClean="0"/>
              <a:t>2026. 3. 17.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3E1F78-044F-A92D-DFC7-120330225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C6B7B-FD91-B086-F82D-F6BE9D919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EE7EE-68C6-B244-B97F-0EFF9DC6476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056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B9BD-0775-7A31-9B51-3101B9F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018DC2-F23A-30D7-D26B-AE8C1138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3D85F-5D7B-0379-9210-C6974A93BA1F}"/>
              </a:ext>
            </a:extLst>
          </p:cNvPr>
          <p:cNvSpPr txBox="1"/>
          <p:nvPr/>
        </p:nvSpPr>
        <p:spPr>
          <a:xfrm>
            <a:off x="1569809" y="1572974"/>
            <a:ext cx="982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i="0" dirty="0">
                <a:solidFill>
                  <a:schemeClr val="bg1"/>
                </a:solidFill>
                <a:effectLst/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화면 설계서</a:t>
            </a:r>
            <a:endParaRPr kumimoji="1" lang="ko-KR" altLang="en-US" sz="3600" b="1" dirty="0">
              <a:solidFill>
                <a:schemeClr val="bg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5E753-5CD5-807F-6F54-CAD3C75CEA16}"/>
              </a:ext>
            </a:extLst>
          </p:cNvPr>
          <p:cNvSpPr txBox="1"/>
          <p:nvPr/>
        </p:nvSpPr>
        <p:spPr>
          <a:xfrm>
            <a:off x="1569809" y="2382322"/>
            <a:ext cx="94972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생성형 </a:t>
            </a:r>
            <a:r>
              <a:rPr lang="en-US" altLang="ko-KR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AI </a:t>
            </a:r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기반 영양소 섭취 패턴 분석 및 </a:t>
            </a:r>
            <a:r>
              <a:rPr lang="ko-KR" altLang="en-US" sz="1500" dirty="0" err="1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이상지질혈증</a:t>
            </a:r>
            <a:r>
              <a:rPr lang="ko-KR" altLang="en-US" sz="1500" dirty="0">
                <a:solidFill>
                  <a:schemeClr val="bg2">
                    <a:lumMod val="75000"/>
                  </a:schemeClr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위험도 예측 모델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24988-0207-FE4B-936E-5EC1B5C98A24}"/>
              </a:ext>
            </a:extLst>
          </p:cNvPr>
          <p:cNvSpPr txBox="1"/>
          <p:nvPr/>
        </p:nvSpPr>
        <p:spPr>
          <a:xfrm>
            <a:off x="7747682" y="5524569"/>
            <a:ext cx="3669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성시영</a:t>
            </a:r>
            <a:r>
              <a:rPr kumimoji="1" lang="en-US" altLang="ko-KR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kumimoji="1" lang="en-US" altLang="ko-KR" sz="2400" b="1" dirty="0" err="1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Siyeong</a:t>
            </a:r>
            <a:r>
              <a:rPr kumimoji="1" lang="en-US" altLang="ko-KR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-Sung)</a:t>
            </a:r>
          </a:p>
          <a:p>
            <a:pPr algn="r"/>
            <a:r>
              <a:rPr kumimoji="1" lang="en-US" altLang="ko-KR" sz="2400" b="1" dirty="0">
                <a:solidFill>
                  <a:schemeClr val="bg1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2026.03.17</a:t>
            </a:r>
            <a:endParaRPr kumimoji="1" lang="ko-KR" altLang="en-US" sz="2400" b="1" dirty="0">
              <a:solidFill>
                <a:schemeClr val="bg1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BFD4B9-1DE7-7D16-394B-C78FDC9AA50E}"/>
              </a:ext>
            </a:extLst>
          </p:cNvPr>
          <p:cNvSpPr/>
          <p:nvPr/>
        </p:nvSpPr>
        <p:spPr>
          <a:xfrm>
            <a:off x="0" y="1086792"/>
            <a:ext cx="1048214" cy="26486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71DB06-0E47-D681-BC41-2B07C5008713}"/>
              </a:ext>
            </a:extLst>
          </p:cNvPr>
          <p:cNvSpPr/>
          <p:nvPr/>
        </p:nvSpPr>
        <p:spPr>
          <a:xfrm>
            <a:off x="1569809" y="1086792"/>
            <a:ext cx="9497223" cy="45719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183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35B0-875D-978A-5E9C-912A04AD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210D9B-DA39-BBD4-53D1-FE9B0878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6646F4D-2407-266D-D968-9F98B2F0B677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60BBC-E33A-4DCD-237A-124A8F0897D7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메인 화면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9E3A0F-66A9-2272-0C93-9F6BB0BB5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8494"/>
            <a:ext cx="7991547" cy="423015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EEFB28-3FC4-C4D8-44EE-91919C23722C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2"/>
          <a:ext cx="3464569" cy="4230157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26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9993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로고 삽입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9993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로그인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회원가입 버튼 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77288"/>
                  </a:ext>
                </a:extLst>
              </a:tr>
              <a:tr h="9993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서비스 시작 버튼 클릭 시 화면 이동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328815"/>
                  </a:ext>
                </a:extLst>
              </a:tr>
              <a:tr h="9993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자세히 보기 클릭 시 유의사항 페이지 이동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sp>
        <p:nvSpPr>
          <p:cNvPr id="6" name="액자 5">
            <a:extLst>
              <a:ext uri="{FF2B5EF4-FFF2-40B4-BE49-F238E27FC236}">
                <a16:creationId xmlns:a16="http://schemas.microsoft.com/office/drawing/2014/main" id="{C870D251-2D0A-E9F4-3A62-C8057C7EFACE}"/>
              </a:ext>
            </a:extLst>
          </p:cNvPr>
          <p:cNvSpPr/>
          <p:nvPr/>
        </p:nvSpPr>
        <p:spPr>
          <a:xfrm>
            <a:off x="421593" y="1508494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A3929B4-56DD-66C0-065F-F33A3B86A307}"/>
              </a:ext>
            </a:extLst>
          </p:cNvPr>
          <p:cNvSpPr/>
          <p:nvPr/>
        </p:nvSpPr>
        <p:spPr>
          <a:xfrm>
            <a:off x="26601" y="149655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1053483F-1CE7-3F59-211E-1A2E321F4154}"/>
              </a:ext>
            </a:extLst>
          </p:cNvPr>
          <p:cNvSpPr/>
          <p:nvPr/>
        </p:nvSpPr>
        <p:spPr>
          <a:xfrm>
            <a:off x="7362201" y="1508493"/>
            <a:ext cx="1005219" cy="322673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738915B-59ED-D561-1D34-C340484CF1EA}"/>
              </a:ext>
            </a:extLst>
          </p:cNvPr>
          <p:cNvSpPr/>
          <p:nvPr/>
        </p:nvSpPr>
        <p:spPr>
          <a:xfrm>
            <a:off x="6967210" y="1496551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AD25D619-467D-D65C-6DF5-DFB57F80F796}"/>
              </a:ext>
            </a:extLst>
          </p:cNvPr>
          <p:cNvSpPr/>
          <p:nvPr/>
        </p:nvSpPr>
        <p:spPr>
          <a:xfrm>
            <a:off x="3509608" y="3723017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49D123D-4F1C-C7E6-D116-7BF1550766D2}"/>
              </a:ext>
            </a:extLst>
          </p:cNvPr>
          <p:cNvSpPr/>
          <p:nvPr/>
        </p:nvSpPr>
        <p:spPr>
          <a:xfrm>
            <a:off x="3091013" y="3723017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5" name="액자 24">
            <a:extLst>
              <a:ext uri="{FF2B5EF4-FFF2-40B4-BE49-F238E27FC236}">
                <a16:creationId xmlns:a16="http://schemas.microsoft.com/office/drawing/2014/main" id="{855ABBBB-7207-B522-5502-0786EC5D04C4}"/>
              </a:ext>
            </a:extLst>
          </p:cNvPr>
          <p:cNvSpPr/>
          <p:nvPr/>
        </p:nvSpPr>
        <p:spPr>
          <a:xfrm>
            <a:off x="4371647" y="3721465"/>
            <a:ext cx="837052" cy="298791"/>
          </a:xfrm>
          <a:prstGeom prst="fram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D543ECA-E704-6DA0-B0AF-338028C6FAA6}"/>
              </a:ext>
            </a:extLst>
          </p:cNvPr>
          <p:cNvSpPr/>
          <p:nvPr/>
        </p:nvSpPr>
        <p:spPr>
          <a:xfrm>
            <a:off x="5281284" y="3732885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55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996B-FB6C-D108-D813-34F2F46E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B8F04E-EAA1-2EA3-F660-5620557B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745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8B9B7BE-D376-A477-889C-969547A8EED7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4240C-F537-7922-DE0C-2B090AFF5BAD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기본 정보 입력 화면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D84506-CCEA-E503-7D44-D2FD6F7D0458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5"/>
          <a:ext cx="3464569" cy="4233185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26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3378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진행 상황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바 형태로 노출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3378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성별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본인 성별 클릭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77288"/>
                  </a:ext>
                </a:extLst>
              </a:tr>
              <a:tr h="3378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나이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본인 나이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숫자만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328815"/>
                  </a:ext>
                </a:extLst>
              </a:tr>
              <a:tr h="1083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가구 월평균 소득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입력 방식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: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선택형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[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선택지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]</a:t>
                      </a: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350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~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500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미만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marL="0" algn="l" defTabSz="914400" rtl="0" eaLnBrk="1" fontAlgn="ctr" latinLnBrk="1" hangingPunct="1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500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만원 이상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977124"/>
                  </a:ext>
                </a:extLst>
              </a:tr>
              <a:tr h="9290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 최종 학력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입력 방식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: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선택형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[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선택지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]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초등학교 졸업 이하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중학교 졸업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고등학교 조업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대학교 이상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398824"/>
                  </a:ext>
                </a:extLst>
              </a:tr>
              <a:tr h="643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6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신체 정보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키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몸무게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숫자만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69732"/>
                  </a:ext>
                </a:extLst>
              </a:tr>
              <a:tr h="3378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7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3600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모두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선택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시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다음 버튼 클릭 </a:t>
                      </a:r>
                    </a:p>
                  </a:txBody>
                  <a:tcPr marL="3600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8E9CAD4-36A0-D875-7AB7-FFEAB3263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15" y="1503287"/>
            <a:ext cx="7772400" cy="4238394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132A87C-ABCB-A669-89D1-4B5BDD2654BD}"/>
              </a:ext>
            </a:extLst>
          </p:cNvPr>
          <p:cNvSpPr/>
          <p:nvPr/>
        </p:nvSpPr>
        <p:spPr>
          <a:xfrm>
            <a:off x="6841" y="230285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920187B-AA60-226B-85ED-2961A833056E}"/>
              </a:ext>
            </a:extLst>
          </p:cNvPr>
          <p:cNvSpPr/>
          <p:nvPr/>
        </p:nvSpPr>
        <p:spPr>
          <a:xfrm>
            <a:off x="6841" y="2757917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AF4D588-4DBB-6443-EB53-D5591B3B55A3}"/>
              </a:ext>
            </a:extLst>
          </p:cNvPr>
          <p:cNvSpPr/>
          <p:nvPr/>
        </p:nvSpPr>
        <p:spPr>
          <a:xfrm>
            <a:off x="6841" y="323383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0F88B67-DF28-0D29-F750-7693ECA8270D}"/>
              </a:ext>
            </a:extLst>
          </p:cNvPr>
          <p:cNvSpPr/>
          <p:nvPr/>
        </p:nvSpPr>
        <p:spPr>
          <a:xfrm>
            <a:off x="6841" y="372816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B142600-8884-17FE-8EE5-A93718F8B7CE}"/>
              </a:ext>
            </a:extLst>
          </p:cNvPr>
          <p:cNvSpPr/>
          <p:nvPr/>
        </p:nvSpPr>
        <p:spPr>
          <a:xfrm>
            <a:off x="6841" y="4216895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296A1E8-B172-F556-E826-E43F742B6112}"/>
              </a:ext>
            </a:extLst>
          </p:cNvPr>
          <p:cNvSpPr/>
          <p:nvPr/>
        </p:nvSpPr>
        <p:spPr>
          <a:xfrm>
            <a:off x="6841" y="476663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2510CA4-5B77-EA24-6A55-BE64AE192284}"/>
              </a:ext>
            </a:extLst>
          </p:cNvPr>
          <p:cNvSpPr/>
          <p:nvPr/>
        </p:nvSpPr>
        <p:spPr>
          <a:xfrm>
            <a:off x="421593" y="4757529"/>
            <a:ext cx="3739590" cy="331305"/>
          </a:xfrm>
          <a:prstGeom prst="roundRect">
            <a:avLst/>
          </a:prstGeom>
          <a:solidFill>
            <a:srgbClr val="F9FBFD"/>
          </a:solidFill>
          <a:ln>
            <a:solidFill>
              <a:srgbClr val="EDF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58B5D1F-AD94-7AB8-2AC1-59A8E0F323A5}"/>
              </a:ext>
            </a:extLst>
          </p:cNvPr>
          <p:cNvSpPr/>
          <p:nvPr/>
        </p:nvSpPr>
        <p:spPr>
          <a:xfrm>
            <a:off x="4291229" y="4757528"/>
            <a:ext cx="3739590" cy="331305"/>
          </a:xfrm>
          <a:prstGeom prst="roundRect">
            <a:avLst/>
          </a:prstGeom>
          <a:solidFill>
            <a:srgbClr val="F9FBFD"/>
          </a:solidFill>
          <a:ln>
            <a:solidFill>
              <a:srgbClr val="EDF1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77A53-4B15-0521-189D-78015703DD93}"/>
              </a:ext>
            </a:extLst>
          </p:cNvPr>
          <p:cNvSpPr txBox="1"/>
          <p:nvPr/>
        </p:nvSpPr>
        <p:spPr>
          <a:xfrm>
            <a:off x="3715018" y="4818879"/>
            <a:ext cx="610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cm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54CD08-C648-5D2A-4F85-BE3DB8E9E59E}"/>
              </a:ext>
            </a:extLst>
          </p:cNvPr>
          <p:cNvSpPr txBox="1"/>
          <p:nvPr/>
        </p:nvSpPr>
        <p:spPr>
          <a:xfrm>
            <a:off x="7663480" y="4818879"/>
            <a:ext cx="610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F0AB1-583F-2675-3BC2-61DEB14560B6}"/>
              </a:ext>
            </a:extLst>
          </p:cNvPr>
          <p:cNvSpPr txBox="1"/>
          <p:nvPr/>
        </p:nvSpPr>
        <p:spPr>
          <a:xfrm>
            <a:off x="362860" y="4555078"/>
            <a:ext cx="11783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신체 정보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CAF77-EF0C-3ABC-4B30-635D931FA5FD}"/>
              </a:ext>
            </a:extLst>
          </p:cNvPr>
          <p:cNvSpPr txBox="1"/>
          <p:nvPr/>
        </p:nvSpPr>
        <p:spPr>
          <a:xfrm>
            <a:off x="519349" y="4836405"/>
            <a:ext cx="32972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165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E08E3-5A0C-D8E7-80CE-9967511D1F81}"/>
              </a:ext>
            </a:extLst>
          </p:cNvPr>
          <p:cNvSpPr txBox="1"/>
          <p:nvPr/>
        </p:nvSpPr>
        <p:spPr>
          <a:xfrm>
            <a:off x="4455092" y="4836405"/>
            <a:ext cx="32996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55</a:t>
            </a:r>
            <a:endParaRPr kumimoji="1" lang="ko-KR" altLang="en-US" sz="9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382EA1-4690-A314-3360-3B10314F46CB}"/>
              </a:ext>
            </a:extLst>
          </p:cNvPr>
          <p:cNvSpPr/>
          <p:nvPr/>
        </p:nvSpPr>
        <p:spPr>
          <a:xfrm>
            <a:off x="6841" y="539610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7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703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3029-A4A7-E424-4F60-D549261A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33A20D3-6909-9E13-E55F-AD9916368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BFBB7AA-FE5E-59BA-59F6-EDB5D49EAA8E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4F507-4ACD-A6B5-71EF-D1A2471A0F42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2C373E-B405-A750-4CE1-D92759AB9EC2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30155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34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9983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근력운동 일수 선택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9983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유산소 신체활동 실천 여부 선택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F77A933A-B154-7B8C-529F-FA893464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71" y="1455122"/>
            <a:ext cx="7772400" cy="4283525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F5635F6-76B8-C38A-0539-651E16EDFE26}"/>
              </a:ext>
            </a:extLst>
          </p:cNvPr>
          <p:cNvSpPr/>
          <p:nvPr/>
        </p:nvSpPr>
        <p:spPr>
          <a:xfrm>
            <a:off x="80984" y="305661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EEC1F05-3692-9964-A94E-6F16E1B618DF}"/>
              </a:ext>
            </a:extLst>
          </p:cNvPr>
          <p:cNvSpPr/>
          <p:nvPr/>
        </p:nvSpPr>
        <p:spPr>
          <a:xfrm>
            <a:off x="80984" y="437665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051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012B-F5A2-E930-52AB-EB814A97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144D33-49BB-4447-F9C2-6C392563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1249CD9-06CB-4D55-766B-B913B1593D61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D3ADE-925C-26E6-307A-D1B8AA01BAEE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3E883E-987C-D411-4CB7-CC0F5CCE67E4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1"/>
          <a:ext cx="3464569" cy="4228716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27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9979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흡연 정보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3-1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현재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일반담배을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피우시나요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?”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질문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아니오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해당 질문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비노출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9979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음주 정보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4-1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 클릭 시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,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아래 폭음 빈도 질문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아니오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클릭시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미노출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sp>
        <p:nvSpPr>
          <p:cNvPr id="28" name="타원 27">
            <a:extLst>
              <a:ext uri="{FF2B5EF4-FFF2-40B4-BE49-F238E27FC236}">
                <a16:creationId xmlns:a16="http://schemas.microsoft.com/office/drawing/2014/main" id="{A4BFF9FC-9B3D-568A-9963-F9A1CE01E95F}"/>
              </a:ext>
            </a:extLst>
          </p:cNvPr>
          <p:cNvSpPr/>
          <p:nvPr/>
        </p:nvSpPr>
        <p:spPr>
          <a:xfrm>
            <a:off x="31555" y="3431602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552D9D7-CE55-CD70-9102-5976E5F15A39}"/>
              </a:ext>
            </a:extLst>
          </p:cNvPr>
          <p:cNvSpPr/>
          <p:nvPr/>
        </p:nvSpPr>
        <p:spPr>
          <a:xfrm>
            <a:off x="31555" y="1540951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7D1AF1F-731F-C837-C230-241BC784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9931"/>
            <a:ext cx="7772400" cy="422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4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1F725-A76C-DFFB-7808-81017D4C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F2B8542-9C64-FF4B-5C7C-C531D7A8A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CCA9196-FFF1-FCB8-AA3E-B9B05C4D1363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0B518-1A18-4A10-AD92-4B127FE2E1CB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평소 생활 습관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입력 화면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effectLst/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4520A1-E111-17B0-AA10-DDCF736670D2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2"/>
          <a:ext cx="3464569" cy="4233185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2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2000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평일 평균 수면시간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평일 평균 수면시간 입력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숫자만 입력 가능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2000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6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다음 버튼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모든 항목 입력 시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다음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”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버튼 활성화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E75ADA35-5C00-8486-B56D-90DB3F87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4749"/>
            <a:ext cx="7772400" cy="422871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AD02541B-B2F3-2FD5-C94D-D350585A3266}"/>
              </a:ext>
            </a:extLst>
          </p:cNvPr>
          <p:cNvSpPr/>
          <p:nvPr/>
        </p:nvSpPr>
        <p:spPr>
          <a:xfrm>
            <a:off x="66495" y="424161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F456148-3D68-39C5-74BF-262F0F735DA9}"/>
              </a:ext>
            </a:extLst>
          </p:cNvPr>
          <p:cNvSpPr/>
          <p:nvPr/>
        </p:nvSpPr>
        <p:spPr>
          <a:xfrm>
            <a:off x="66495" y="5001050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40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2F71-BD3F-D3FD-038D-7EBF668C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68B8C4-721C-5437-7DD4-46ACF5F9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376DE65-FC9B-68A3-E946-F234122BB2D2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FE0F5-7A9D-2A82-EC12-0CFA355DF349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영양소 정보 입력 화면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1B5888-5500-D363-A905-BAD116B04438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33186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25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1333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칼로리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총 칼로리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숫자만 입력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)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1333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영양소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섭취한 영양소 정보 입력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245529"/>
                  </a:ext>
                </a:extLst>
              </a:tr>
              <a:tr h="1333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영양소 자동 분석 시작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입력된 정보로 영양소 분석 및 고콜레스테롤 예측 시작 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596117A-68CB-F0CF-6201-206C81188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56" y="1504749"/>
            <a:ext cx="7772400" cy="4224973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CA44A7E-13C0-FEAB-7236-12258C5E35EB}"/>
              </a:ext>
            </a:extLst>
          </p:cNvPr>
          <p:cNvSpPr/>
          <p:nvPr/>
        </p:nvSpPr>
        <p:spPr>
          <a:xfrm>
            <a:off x="512389" y="2802207"/>
            <a:ext cx="7550333" cy="626793"/>
          </a:xfrm>
          <a:prstGeom prst="roundRect">
            <a:avLst>
              <a:gd name="adj" fmla="val 2736"/>
            </a:avLst>
          </a:prstGeom>
          <a:solidFill>
            <a:srgbClr val="FF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E5F148-8715-8E02-049A-42FF9A9FB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55" y="4887686"/>
            <a:ext cx="7772400" cy="842036"/>
          </a:xfrm>
          <a:prstGeom prst="rect">
            <a:avLst/>
          </a:prstGeom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D54D0D6-6EB8-CB65-F1F3-3F1EB34E6F84}"/>
              </a:ext>
            </a:extLst>
          </p:cNvPr>
          <p:cNvSpPr/>
          <p:nvPr/>
        </p:nvSpPr>
        <p:spPr>
          <a:xfrm>
            <a:off x="519779" y="3063388"/>
            <a:ext cx="7455994" cy="26566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C3C8286-74E7-7333-6EDF-EE76BCE9605E}"/>
              </a:ext>
            </a:extLst>
          </p:cNvPr>
          <p:cNvSpPr/>
          <p:nvPr/>
        </p:nvSpPr>
        <p:spPr>
          <a:xfrm>
            <a:off x="43858" y="283485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5BD483-1CBE-6C8C-C435-BDAE51460010}"/>
              </a:ext>
            </a:extLst>
          </p:cNvPr>
          <p:cNvSpPr/>
          <p:nvPr/>
        </p:nvSpPr>
        <p:spPr>
          <a:xfrm>
            <a:off x="43858" y="357132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D66CEC8-21F1-07E4-195F-1BE1C90674F3}"/>
              </a:ext>
            </a:extLst>
          </p:cNvPr>
          <p:cNvSpPr/>
          <p:nvPr/>
        </p:nvSpPr>
        <p:spPr>
          <a:xfrm>
            <a:off x="43858" y="4978676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17C86A-23F0-67DA-7BE2-69586E98B748}"/>
              </a:ext>
            </a:extLst>
          </p:cNvPr>
          <p:cNvSpPr/>
          <p:nvPr/>
        </p:nvSpPr>
        <p:spPr>
          <a:xfrm>
            <a:off x="3856383" y="2001078"/>
            <a:ext cx="1020417" cy="304800"/>
          </a:xfrm>
          <a:prstGeom prst="rect">
            <a:avLst/>
          </a:prstGeom>
          <a:solidFill>
            <a:srgbClr val="1E39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FB77E-52D1-8F70-81E8-98FD380785DD}"/>
              </a:ext>
            </a:extLst>
          </p:cNvPr>
          <p:cNvSpPr txBox="1"/>
          <p:nvPr/>
        </p:nvSpPr>
        <p:spPr>
          <a:xfrm>
            <a:off x="469776" y="2807623"/>
            <a:ext cx="3845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칼로리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1D30E-0988-C54A-33DD-6FB412F173BD}"/>
              </a:ext>
            </a:extLst>
          </p:cNvPr>
          <p:cNvSpPr txBox="1"/>
          <p:nvPr/>
        </p:nvSpPr>
        <p:spPr>
          <a:xfrm>
            <a:off x="512629" y="3073108"/>
            <a:ext cx="22570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8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오늘 먹은 총 칼로리를 입력해 주세요</a:t>
            </a:r>
            <a:r>
              <a:rPr lang="en-US" altLang="ko-KR" sz="9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>
                    <a:lumMod val="8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!</a:t>
            </a:r>
            <a:endParaRPr lang="ko-KR" altLang="en-US" sz="900" b="1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>
                  <a:lumMod val="85000"/>
                </a:schemeClr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46A3C-F6C1-604D-4685-E81F75E35375}"/>
              </a:ext>
            </a:extLst>
          </p:cNvPr>
          <p:cNvSpPr txBox="1"/>
          <p:nvPr/>
        </p:nvSpPr>
        <p:spPr>
          <a:xfrm>
            <a:off x="7465444" y="3069436"/>
            <a:ext cx="610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kcal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05BF372-E00A-2EC6-C19C-0E0C42813D62}"/>
              </a:ext>
            </a:extLst>
          </p:cNvPr>
          <p:cNvSpPr/>
          <p:nvPr/>
        </p:nvSpPr>
        <p:spPr>
          <a:xfrm>
            <a:off x="537888" y="3423508"/>
            <a:ext cx="7550333" cy="145254"/>
          </a:xfrm>
          <a:prstGeom prst="roundRect">
            <a:avLst>
              <a:gd name="adj" fmla="val 2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4B171D1-62F0-685C-1863-A67793EB174F}"/>
              </a:ext>
            </a:extLst>
          </p:cNvPr>
          <p:cNvSpPr/>
          <p:nvPr/>
        </p:nvSpPr>
        <p:spPr>
          <a:xfrm>
            <a:off x="537887" y="3552174"/>
            <a:ext cx="7550333" cy="1235559"/>
          </a:xfrm>
          <a:prstGeom prst="roundRect">
            <a:avLst>
              <a:gd name="adj" fmla="val 2736"/>
            </a:avLst>
          </a:prstGeom>
          <a:solidFill>
            <a:srgbClr val="F5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547EB-C225-DE90-862E-D4F169EA3170}"/>
              </a:ext>
            </a:extLst>
          </p:cNvPr>
          <p:cNvSpPr txBox="1"/>
          <p:nvPr/>
        </p:nvSpPr>
        <p:spPr>
          <a:xfrm>
            <a:off x="469776" y="3609380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영양소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77459B-4867-0173-CEEC-24D665EFBAFF}"/>
              </a:ext>
            </a:extLst>
          </p:cNvPr>
          <p:cNvSpPr txBox="1"/>
          <p:nvPr/>
        </p:nvSpPr>
        <p:spPr>
          <a:xfrm>
            <a:off x="481948" y="3872309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단백질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B2E86AC-4A03-13C9-AF17-3684270FDAC3}"/>
              </a:ext>
            </a:extLst>
          </p:cNvPr>
          <p:cNvSpPr/>
          <p:nvPr/>
        </p:nvSpPr>
        <p:spPr>
          <a:xfrm>
            <a:off x="870816" y="3814486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AAADDA-824C-0AF2-73A1-7CDF21262A49}"/>
              </a:ext>
            </a:extLst>
          </p:cNvPr>
          <p:cNvSpPr txBox="1"/>
          <p:nvPr/>
        </p:nvSpPr>
        <p:spPr>
          <a:xfrm>
            <a:off x="875986" y="3863902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D23167-B737-2763-8596-246E48648D74}"/>
              </a:ext>
            </a:extLst>
          </p:cNvPr>
          <p:cNvSpPr txBox="1"/>
          <p:nvPr/>
        </p:nvSpPr>
        <p:spPr>
          <a:xfrm>
            <a:off x="3466621" y="3844823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FAAE01-94D9-307B-18C9-D0FEA33BBF41}"/>
              </a:ext>
            </a:extLst>
          </p:cNvPr>
          <p:cNvSpPr txBox="1"/>
          <p:nvPr/>
        </p:nvSpPr>
        <p:spPr>
          <a:xfrm>
            <a:off x="4463758" y="3887801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지방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99DE4484-897B-132F-C801-5B4457E65FE2}"/>
              </a:ext>
            </a:extLst>
          </p:cNvPr>
          <p:cNvSpPr/>
          <p:nvPr/>
        </p:nvSpPr>
        <p:spPr>
          <a:xfrm>
            <a:off x="4985493" y="3799787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74A8BE-7884-5181-31AA-D3252B69ED53}"/>
              </a:ext>
            </a:extLst>
          </p:cNvPr>
          <p:cNvSpPr txBox="1"/>
          <p:nvPr/>
        </p:nvSpPr>
        <p:spPr>
          <a:xfrm>
            <a:off x="4990663" y="3854944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0.2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E04A97-48F8-8465-366C-8905DB1D416A}"/>
              </a:ext>
            </a:extLst>
          </p:cNvPr>
          <p:cNvSpPr txBox="1"/>
          <p:nvPr/>
        </p:nvSpPr>
        <p:spPr>
          <a:xfrm>
            <a:off x="7600729" y="3830124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724306-FDBA-889D-2A55-9FB47E7A173A}"/>
              </a:ext>
            </a:extLst>
          </p:cNvPr>
          <p:cNvSpPr txBox="1"/>
          <p:nvPr/>
        </p:nvSpPr>
        <p:spPr>
          <a:xfrm>
            <a:off x="469776" y="4249663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탄수화물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BC985B24-3A3F-B56F-20A0-7F86385CE8E7}"/>
              </a:ext>
            </a:extLst>
          </p:cNvPr>
          <p:cNvSpPr/>
          <p:nvPr/>
        </p:nvSpPr>
        <p:spPr>
          <a:xfrm>
            <a:off x="858644" y="4191840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0D7E37-7B5F-93EE-B80A-D4E0FB0C0107}"/>
              </a:ext>
            </a:extLst>
          </p:cNvPr>
          <p:cNvSpPr txBox="1"/>
          <p:nvPr/>
        </p:nvSpPr>
        <p:spPr>
          <a:xfrm>
            <a:off x="863814" y="4241256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18C520-3C5D-BD41-2BF1-DF2BD6AAC076}"/>
              </a:ext>
            </a:extLst>
          </p:cNvPr>
          <p:cNvSpPr txBox="1"/>
          <p:nvPr/>
        </p:nvSpPr>
        <p:spPr>
          <a:xfrm>
            <a:off x="3454449" y="4222177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F27FCF-739E-5093-1D88-0FBCE1CA1911}"/>
              </a:ext>
            </a:extLst>
          </p:cNvPr>
          <p:cNvSpPr txBox="1"/>
          <p:nvPr/>
        </p:nvSpPr>
        <p:spPr>
          <a:xfrm>
            <a:off x="4465185" y="4240705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당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F8DFE2D5-A994-CA28-A432-A9F8D7722ACC}"/>
              </a:ext>
            </a:extLst>
          </p:cNvPr>
          <p:cNvSpPr/>
          <p:nvPr/>
        </p:nvSpPr>
        <p:spPr>
          <a:xfrm>
            <a:off x="4973321" y="4177141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B731F9-16C8-BA50-A81B-819D899BF54E}"/>
              </a:ext>
            </a:extLst>
          </p:cNvPr>
          <p:cNvSpPr txBox="1"/>
          <p:nvPr/>
        </p:nvSpPr>
        <p:spPr>
          <a:xfrm>
            <a:off x="4978491" y="4232298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0.2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BCD0E8-7091-746A-B86E-EE89265CEE66}"/>
              </a:ext>
            </a:extLst>
          </p:cNvPr>
          <p:cNvSpPr txBox="1"/>
          <p:nvPr/>
        </p:nvSpPr>
        <p:spPr>
          <a:xfrm>
            <a:off x="7588557" y="4207478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532AE8-3653-8F44-2FC5-23BA76924A99}"/>
              </a:ext>
            </a:extLst>
          </p:cNvPr>
          <p:cNvSpPr txBox="1"/>
          <p:nvPr/>
        </p:nvSpPr>
        <p:spPr>
          <a:xfrm>
            <a:off x="481948" y="4647259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나트륨</a:t>
            </a: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C2674949-177D-0C49-15B6-A31E837E7626}"/>
              </a:ext>
            </a:extLst>
          </p:cNvPr>
          <p:cNvSpPr/>
          <p:nvPr/>
        </p:nvSpPr>
        <p:spPr>
          <a:xfrm>
            <a:off x="870816" y="4589436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444B69-4E8D-658B-0FCE-A650D124B944}"/>
              </a:ext>
            </a:extLst>
          </p:cNvPr>
          <p:cNvSpPr txBox="1"/>
          <p:nvPr/>
        </p:nvSpPr>
        <p:spPr>
          <a:xfrm>
            <a:off x="875986" y="4638852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1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05A611-63DA-AC56-CE18-ED5C1A8743EB}"/>
              </a:ext>
            </a:extLst>
          </p:cNvPr>
          <p:cNvSpPr txBox="1"/>
          <p:nvPr/>
        </p:nvSpPr>
        <p:spPr>
          <a:xfrm>
            <a:off x="3466621" y="4619773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CB0A0F-EBFE-0E6B-1138-D9987F55C707}"/>
              </a:ext>
            </a:extLst>
          </p:cNvPr>
          <p:cNvSpPr txBox="1"/>
          <p:nvPr/>
        </p:nvSpPr>
        <p:spPr>
          <a:xfrm>
            <a:off x="4465185" y="4638301"/>
            <a:ext cx="7446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202946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콜레스테롤</a:t>
            </a: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EDBEB249-7BEA-E1AB-EAE2-EB0FC37364D7}"/>
              </a:ext>
            </a:extLst>
          </p:cNvPr>
          <p:cNvSpPr/>
          <p:nvPr/>
        </p:nvSpPr>
        <p:spPr>
          <a:xfrm>
            <a:off x="4985493" y="4574737"/>
            <a:ext cx="2985567" cy="3068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93498E-F840-C318-F96A-E7648636ADE1}"/>
              </a:ext>
            </a:extLst>
          </p:cNvPr>
          <p:cNvSpPr txBox="1"/>
          <p:nvPr/>
        </p:nvSpPr>
        <p:spPr>
          <a:xfrm>
            <a:off x="4990663" y="4629894"/>
            <a:ext cx="3384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7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0.2</a:t>
            </a:r>
            <a:endParaRPr kumimoji="1" lang="ko-KR" altLang="en-US" sz="7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E23844-864C-48AA-FEA2-283AF143D5FE}"/>
              </a:ext>
            </a:extLst>
          </p:cNvPr>
          <p:cNvSpPr txBox="1"/>
          <p:nvPr/>
        </p:nvSpPr>
        <p:spPr>
          <a:xfrm>
            <a:off x="7600729" y="4605074"/>
            <a:ext cx="255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g</a:t>
            </a:r>
            <a:endParaRPr kumimoji="1" lang="ko-KR" altLang="en-US" sz="1000" dirty="0">
              <a:solidFill>
                <a:schemeClr val="bg1">
                  <a:lumMod val="85000"/>
                </a:schemeClr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DC2678-99A8-DC4D-08FC-E05CF91800C9}"/>
              </a:ext>
            </a:extLst>
          </p:cNvPr>
          <p:cNvSpPr txBox="1"/>
          <p:nvPr/>
        </p:nvSpPr>
        <p:spPr>
          <a:xfrm>
            <a:off x="3940822" y="1979251"/>
            <a:ext cx="1178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영양소 정보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EA354-7B1F-3524-1846-90DBA008693D}"/>
              </a:ext>
            </a:extLst>
          </p:cNvPr>
          <p:cNvSpPr txBox="1"/>
          <p:nvPr/>
        </p:nvSpPr>
        <p:spPr>
          <a:xfrm>
            <a:off x="3594314" y="2174938"/>
            <a:ext cx="22101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섭취한 영양소 정보를 입력해 주세요</a:t>
            </a:r>
            <a:r>
              <a:rPr lang="en-US" altLang="ko-KR" sz="7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.</a:t>
            </a:r>
            <a:endParaRPr lang="ko-KR" altLang="en-US" sz="700" dirty="0">
              <a:ln>
                <a:solidFill>
                  <a:srgbClr val="4472C4">
                    <a:alpha val="0"/>
                  </a:srgbClr>
                </a:solidFill>
              </a:ln>
              <a:solidFill>
                <a:schemeClr val="bg1"/>
              </a:solidFill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98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FCE43-132F-2E99-2C5E-7C14D403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860D813-553A-C990-D49F-1C3F3F79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5B865D9-A0C2-851D-DD62-BC7A805CAB8A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C1006-86D8-15E3-06BF-7584030223F4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위험도 분석 결과 </a:t>
            </a:r>
            <a:r>
              <a:rPr lang="en-US" altLang="ko-KR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71C0DB-57EE-C044-1842-3F1F0298CB70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33184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27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2002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예측된 위험도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위험도 예측 그래프 노출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2002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영양소 섭취 패턴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영양소 섭취 패턴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0224C502-6FEA-1242-BBD3-8E063165FD29}"/>
              </a:ext>
            </a:extLst>
          </p:cNvPr>
          <p:cNvSpPr/>
          <p:nvPr/>
        </p:nvSpPr>
        <p:spPr>
          <a:xfrm>
            <a:off x="57110" y="2834854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1E0AFC7-B367-139A-140F-B02E2F26F921}"/>
              </a:ext>
            </a:extLst>
          </p:cNvPr>
          <p:cNvSpPr/>
          <p:nvPr/>
        </p:nvSpPr>
        <p:spPr>
          <a:xfrm>
            <a:off x="57110" y="3743601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D95E81-FC5F-A574-D260-FCA02B30A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93" y="1504749"/>
            <a:ext cx="7772400" cy="422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9B1A-2C14-83DE-94FD-805E11CF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073369-29B1-5881-C498-C720DC53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61745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D562A34-A574-8DBA-F1E9-E260D3838083}"/>
              </a:ext>
            </a:extLst>
          </p:cNvPr>
          <p:cNvSpPr/>
          <p:nvPr/>
        </p:nvSpPr>
        <p:spPr>
          <a:xfrm flipH="1">
            <a:off x="375874" y="407856"/>
            <a:ext cx="45719" cy="641829"/>
          </a:xfrm>
          <a:prstGeom prst="roundRect">
            <a:avLst/>
          </a:prstGeom>
          <a:solidFill>
            <a:srgbClr val="2030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00C25-E2A5-3A34-A49A-A91805A3D04D}"/>
              </a:ext>
            </a:extLst>
          </p:cNvPr>
          <p:cNvSpPr txBox="1"/>
          <p:nvPr/>
        </p:nvSpPr>
        <p:spPr>
          <a:xfrm>
            <a:off x="519779" y="358229"/>
            <a:ext cx="9823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rgbClr val="202946"/>
                </a:solidFill>
                <a:effectLst/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화면 설계서</a:t>
            </a:r>
            <a:endParaRPr lang="en-US" altLang="ko-KR" sz="2600" b="1" dirty="0">
              <a:solidFill>
                <a:srgbClr val="202946"/>
              </a:solidFill>
              <a:effectLst/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위험도 분석 결과 </a:t>
            </a:r>
            <a:r>
              <a:rPr lang="en-US" altLang="ko-KR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-</a:t>
            </a:r>
            <a:r>
              <a:rPr lang="ko-KR" altLang="en-US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sz="1600" dirty="0">
                <a:solidFill>
                  <a:srgbClr val="4D5F8F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</a:t>
            </a:r>
            <a:endParaRPr lang="ko-KR" altLang="en-US" sz="1600" dirty="0">
              <a:solidFill>
                <a:srgbClr val="4D5F8F"/>
              </a:solidFill>
              <a:effectLst/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5D4C56-3852-3338-80B8-3F22DFD71700}"/>
              </a:ext>
            </a:extLst>
          </p:cNvPr>
          <p:cNvGraphicFramePr>
            <a:graphicFrameLocks noGrp="1"/>
          </p:cNvGraphicFramePr>
          <p:nvPr/>
        </p:nvGraphicFramePr>
        <p:xfrm>
          <a:off x="8463343" y="1508493"/>
          <a:ext cx="3464569" cy="4233184"/>
        </p:xfrm>
        <a:graphic>
          <a:graphicData uri="http://schemas.openxmlformats.org/drawingml/2006/table">
            <a:tbl>
              <a:tblPr>
                <a:solidFill>
                  <a:srgbClr val="D9E2F0"/>
                </a:solidFill>
                <a:tableStyleId>{073A0DAA-6AF3-43AB-8588-CEC1D06C72B9}</a:tableStyleId>
              </a:tblPr>
              <a:tblGrid>
                <a:gridCol w="640007">
                  <a:extLst>
                    <a:ext uri="{9D8B030D-6E8A-4147-A177-3AD203B41FA5}">
                      <a16:colId xmlns:a16="http://schemas.microsoft.com/office/drawing/2014/main" val="3609243270"/>
                    </a:ext>
                  </a:extLst>
                </a:gridCol>
                <a:gridCol w="2824562">
                  <a:extLst>
                    <a:ext uri="{9D8B030D-6E8A-4147-A177-3AD203B41FA5}">
                      <a16:colId xmlns:a16="http://schemas.microsoft.com/office/drawing/2014/main" val="3085350586"/>
                    </a:ext>
                  </a:extLst>
                </a:gridCol>
              </a:tblGrid>
              <a:tr h="2306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구분</a:t>
                      </a: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내용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331099"/>
                  </a:ext>
                </a:extLst>
              </a:tr>
              <a:tr h="2001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lang="ko-KR" alt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주요 위험 요인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주요 위험 요인 나열</a:t>
                      </a: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7849"/>
                  </a:ext>
                </a:extLst>
              </a:tr>
              <a:tr h="2001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</a:t>
                      </a:r>
                      <a:endParaRPr lang="en-US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메인화면으로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돌아가기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-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완료 후 </a:t>
                      </a:r>
                      <a:r>
                        <a:rPr lang="ko-KR" altLang="en-US" sz="1000" b="1" i="0" kern="120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메인화면으로</a:t>
                      </a:r>
                      <a:r>
                        <a:rPr lang="ko-KR" altLang="en-US" sz="1000" b="1" i="0" kern="120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202946"/>
                          </a:solidFill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돌아가는 버튼 노출</a:t>
                      </a:r>
                      <a:endParaRPr lang="en-US" altLang="ko-KR" sz="1000" b="1" i="0" kern="120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202946"/>
                        </a:solidFill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4265" marR="4265" marT="42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87223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7279AB5-0672-157E-0594-36B1E03AC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74" y="1503639"/>
            <a:ext cx="7772400" cy="42212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3F6EC14-C3D2-B367-DE4F-08C00D3B67EE}"/>
              </a:ext>
            </a:extLst>
          </p:cNvPr>
          <p:cNvSpPr/>
          <p:nvPr/>
        </p:nvSpPr>
        <p:spPr>
          <a:xfrm>
            <a:off x="3763618" y="5473148"/>
            <a:ext cx="821635" cy="225215"/>
          </a:xfrm>
          <a:prstGeom prst="rect">
            <a:avLst/>
          </a:prstGeom>
          <a:solidFill>
            <a:srgbClr val="1E3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E80255-259E-7EF6-8BC4-16E2F3839950}"/>
              </a:ext>
            </a:extLst>
          </p:cNvPr>
          <p:cNvSpPr txBox="1"/>
          <p:nvPr/>
        </p:nvSpPr>
        <p:spPr>
          <a:xfrm>
            <a:off x="3452716" y="5473076"/>
            <a:ext cx="1331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메인화면으로</a:t>
            </a:r>
            <a:r>
              <a:rPr lang="ko-KR" altLang="en-US" sz="90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돌아가기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18ED8F-AC4F-49F4-C904-03F1D4AEFBB5}"/>
              </a:ext>
            </a:extLst>
          </p:cNvPr>
          <p:cNvSpPr/>
          <p:nvPr/>
        </p:nvSpPr>
        <p:spPr>
          <a:xfrm>
            <a:off x="90239" y="5343109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80FFA4C-4694-39EB-85CD-AFA85F6495D8}"/>
              </a:ext>
            </a:extLst>
          </p:cNvPr>
          <p:cNvSpPr/>
          <p:nvPr/>
        </p:nvSpPr>
        <p:spPr>
          <a:xfrm>
            <a:off x="90239" y="3375163"/>
            <a:ext cx="322673" cy="32267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</a:t>
            </a:r>
            <a:endParaRPr lang="ko-KR" altLang="en-US" b="1" dirty="0">
              <a:solidFill>
                <a:schemeClr val="bg1"/>
              </a:solidFill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37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503</Words>
  <Application>Microsoft Macintosh PowerPoint</Application>
  <PresentationFormat>와이드스크린</PresentationFormat>
  <Paragraphs>175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맑은 고딕</vt:lpstr>
      <vt:lpstr>Gmarket Sans Medium</vt:lpstr>
      <vt:lpstr>Pretendard Variable Black</vt:lpstr>
      <vt:lpstr>Pretendard Variable ExtraBold</vt:lpstr>
      <vt:lpstr>Pretendard Variable Light</vt:lpstr>
      <vt:lpstr>Pretendard Variable SemiBold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성시영(칼리버스-칼리버스)</dc:creator>
  <cp:lastModifiedBy>성시영(칼리버스-칼리버스)</cp:lastModifiedBy>
  <cp:revision>7</cp:revision>
  <dcterms:created xsi:type="dcterms:W3CDTF">2026-03-15T14:08:55Z</dcterms:created>
  <dcterms:modified xsi:type="dcterms:W3CDTF">2026-03-17T08:07:45Z</dcterms:modified>
</cp:coreProperties>
</file>