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1" r:id="rId2"/>
    <p:sldId id="307" r:id="rId3"/>
    <p:sldId id="297" r:id="rId4"/>
    <p:sldId id="300" r:id="rId5"/>
    <p:sldId id="299" r:id="rId6"/>
    <p:sldId id="301" r:id="rId7"/>
    <p:sldId id="308" r:id="rId8"/>
    <p:sldId id="30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BE2839-6E82-524A-AF14-6F8B9A2A22FC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ED123A-3837-F24F-A8F7-B4D01EB0995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21667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A9687-BC11-3822-86B6-11E6A6FE0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1467CF-8562-E896-8DF6-26F6E56021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14EB4-7ABC-0D38-BB8F-F06D503E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CBBE50-CAA4-E991-CF47-6D1E9960A5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26184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13CCD-0F83-E777-856A-A3F68A48A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23DD2-D278-E97A-D015-A8B0242B38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BF7DB-D2F1-34E0-772B-E54C85BA2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DBA212-484D-82E1-4B96-89012F1127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35675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863C2-DAB8-2303-1499-32A43021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953FEF-EB7D-D468-F2E1-92BE703F1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4CF1B-7C66-78E9-3C13-FA8C13A16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A7F98-F186-72E9-AED9-C40F3B007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12435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F5685-1682-D799-47E7-DBE930F39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C20D0C-AEC2-6F85-C01D-AADB61F26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A6714E-0CE8-4933-A44A-C840EB654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659F0-9B55-216B-3481-6F0C5F35AA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14162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4DC28-90A5-D78D-A458-82B79F441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E29F6F-E495-7941-7714-FE16F41CD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A6706B-F69E-3069-3FBB-D16DA0A22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7B6EFB-DC6A-41C8-B732-AB1F9B4CD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3741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9FB0C-55C6-5302-AC10-3FC7EB59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3DBD4C-D0A1-9B32-1BC9-ECA456C26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B50CB2-1C27-03EA-A841-DA02AC0F1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AA5435-2B81-4483-A187-BDA0BB959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38802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DDE18-F9B2-964A-5E58-96AEF1B8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6304A-8BCB-8131-25DA-70D678A21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AA9244-F457-968F-D505-EEFB19A0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800D0E-3508-85D3-A638-A9E97746B7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93543B-5911-8540-8F46-6D4FBCA13325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73783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4ABC6-7097-7F13-33A2-A24E4CB69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C6398E-150A-EE60-1346-3208E464BB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D0AD98-235D-178B-3118-1931FCB2E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56C31C-0F20-277F-10FB-518404CB6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CF8E66-6450-0925-241C-4D640B08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47729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CAF3A-2295-A44E-09C8-0110B1EA6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91FF05-8AF9-1498-324B-F868219F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096127-E683-B03B-1252-459FDCF4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455E46-433E-F34C-C11A-DC00EC901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12B2FD-6289-C5C5-5020-48CCF366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2788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A03444-FBD5-1858-9F45-D79F16D70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569F13-A5F2-22DB-BE01-A1FA31B5D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9D0B6F-D520-71DE-25C6-6276AC1DB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BBEF2D-CA27-F82A-C600-12B89C496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F072EB-E7C2-43F3-95B4-3EFF95345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9683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D2C136-7949-61F5-F230-B3CDAAD90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1831D9-5478-7C87-FB96-A82B3A99C6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AB2DF4-B52F-9167-45AB-7752964BB2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D063FA-0150-CD00-3EF9-47BD78756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5CF4B7-3A31-2ECE-4B49-FCA326FE6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18D898-10CB-E994-8300-9FEBFFA84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39943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DFCE9-60E8-00A8-AB6F-BF2B5DFF6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79999-9897-65A5-827D-08483BE24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8000F-4F6A-CDC2-8E1C-ED4F98CBDA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B8F31B8-6B8F-900D-77C7-531B28B7ED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EFAB6A7-3ECB-C830-0B6C-6DB9B92A4F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7044CA-F0BD-9FE3-9FAD-6259E007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12471A0-BE8F-5D30-61B2-65AAA374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CCADF05-8664-929E-A837-2650B917E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30273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EF8F9-A9B8-4183-9151-5E1E7DA71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BBF211-3B2A-2605-E971-CB2AC216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3D7CA7-C3D7-2D7A-F9D9-FC36301C9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9AAD90-A8FD-4D4B-6CCF-816DB0D7E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58811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E58B5C4-7775-0AAB-AE62-A9304D1D7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1E5FDA-C5D2-FCEF-7D68-C6B2F6053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CBD4BE-F45C-C0D9-5E9C-DD7D413CB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09931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52E7E4-B6BD-D1C9-9FBA-02C010A77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508AB-5075-EB3A-74B9-AB5D4E499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E8F869-ED63-9950-4A9C-C7D65B101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28E791-A462-AD3E-EB88-3CE0CC1BE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6867BC-3136-D211-27DC-B344FEB3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C3A0C0-6070-D61B-3D92-1E00258F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13144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6D798-FB0B-E7F8-C320-D61CAC13B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ED0E307-4BF1-0C61-F27F-7E2AC179A8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17ABB78-4E60-8C3E-0D35-3DFECD10C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C54C2A-E59E-A12E-1D8B-80922DBB8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A95EA60-F4E1-4020-FDE6-25F627145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364AA6-8198-B1FA-DA23-5794B91EA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31555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3C9C15-9FCF-6FA2-D8E9-C95C30A43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CBEE4A-AE9E-2B3F-B715-36FDB43D6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40A958-7B42-0AE6-D5C6-25BE7EC8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95FE23-C6C9-C95C-167F-AC404304C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8507EB-E0A0-6537-3BE0-0120A7B18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18017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AB2922-D745-3AD4-70D5-DBE381707C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880C36-BA2C-E20C-D3F5-2EA33F44D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6007B5-9EFA-DE1A-87E1-FCA603DEC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6AB413-9C4B-034C-BCED-D540A5F90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21CB79-305C-3B76-85EB-1406C912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78869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9CF66F9-0A63-E84A-462F-C6C1B4821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80AD457-3CE7-9AD3-FCD2-D2820271E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E43B79-974C-0B6E-97E5-3AFD873E4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74E8E-AA64-0741-9F7E-7645C7D69728}" type="datetimeFigureOut">
              <a:rPr kumimoji="1" lang="ko-KR" altLang="en-US" smtClean="0"/>
              <a:t>2026. 3. 20.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3E1F78-044F-A92D-DFC7-120330225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BC6B7B-FD91-B086-F82D-F6BE9D9191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3EE7EE-68C6-B244-B97F-0EFF9DC6476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40568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2B9BD-0775-7A31-9B51-3101B9F13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F018DC2-F23A-30D7-D26B-AE8C11387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"/>
            <a:ext cx="12192001" cy="6858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03D85F-5D7B-0379-9210-C6974A93BA1F}"/>
              </a:ext>
            </a:extLst>
          </p:cNvPr>
          <p:cNvSpPr txBox="1"/>
          <p:nvPr/>
        </p:nvSpPr>
        <p:spPr>
          <a:xfrm>
            <a:off x="1569809" y="1572974"/>
            <a:ext cx="9823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i="0" dirty="0">
                <a:solidFill>
                  <a:schemeClr val="bg1"/>
                </a:solidFill>
                <a:effectLst/>
                <a:latin typeface="Gmarket Sans Medium" panose="02000000000000000000" pitchFamily="2" charset="-128"/>
                <a:ea typeface="Gmarket Sans Medium" panose="02000000000000000000" pitchFamily="2" charset="-128"/>
              </a:rPr>
              <a:t>화면 설계서</a:t>
            </a:r>
            <a:endParaRPr kumimoji="1" lang="ko-KR" altLang="en-US" sz="3600" b="1" dirty="0">
              <a:solidFill>
                <a:schemeClr val="bg1"/>
              </a:solidFill>
              <a:latin typeface="Gmarket Sans Medium" panose="02000000000000000000" pitchFamily="2" charset="-128"/>
              <a:ea typeface="Gmarket Sans Medium" panose="02000000000000000000" pitchFamily="2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55E753-5CD5-807F-6F54-CAD3C75CEA16}"/>
              </a:ext>
            </a:extLst>
          </p:cNvPr>
          <p:cNvSpPr txBox="1"/>
          <p:nvPr/>
        </p:nvSpPr>
        <p:spPr>
          <a:xfrm>
            <a:off x="1569809" y="2382322"/>
            <a:ext cx="949722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생성형 </a:t>
            </a:r>
            <a:r>
              <a:rPr lang="en-US" altLang="ko-KR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AI </a:t>
            </a:r>
            <a:r>
              <a:rPr lang="ko-KR" altLang="en-US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기반 영양소 섭취 패턴 분석 및 </a:t>
            </a:r>
            <a:r>
              <a:rPr lang="ko-KR" altLang="en-US" sz="1500" dirty="0" err="1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이상지질혈증</a:t>
            </a:r>
            <a:r>
              <a:rPr lang="ko-KR" altLang="en-US" sz="1500" dirty="0">
                <a:solidFill>
                  <a:schemeClr val="bg2">
                    <a:lumMod val="75000"/>
                  </a:schemeClr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 위험도 예측 모델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C24988-0207-FE4B-936E-5EC1B5C98A24}"/>
              </a:ext>
            </a:extLst>
          </p:cNvPr>
          <p:cNvSpPr txBox="1"/>
          <p:nvPr/>
        </p:nvSpPr>
        <p:spPr>
          <a:xfrm>
            <a:off x="7747682" y="5524569"/>
            <a:ext cx="36699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ko-KR" altLang="en-US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성시영</a:t>
            </a:r>
            <a:r>
              <a:rPr kumimoji="1" lang="en-US" altLang="ko-KR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(</a:t>
            </a:r>
            <a:r>
              <a:rPr kumimoji="1" lang="en-US" altLang="ko-KR" sz="2400" b="1" dirty="0" err="1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Siyeong</a:t>
            </a:r>
            <a:r>
              <a:rPr kumimoji="1" lang="en-US" altLang="ko-KR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-Sung)</a:t>
            </a:r>
          </a:p>
          <a:p>
            <a:pPr algn="r"/>
            <a:r>
              <a:rPr kumimoji="1" lang="en-US" altLang="ko-KR" sz="2400" b="1" dirty="0">
                <a:solidFill>
                  <a:schemeClr val="bg1"/>
                </a:solidFill>
                <a:latin typeface="Gmarket Sans Medium" panose="02000000000000000000" pitchFamily="2" charset="-128"/>
                <a:ea typeface="Gmarket Sans Medium" panose="02000000000000000000" pitchFamily="2" charset="-128"/>
              </a:rPr>
              <a:t>2026.03.17</a:t>
            </a:r>
            <a:endParaRPr kumimoji="1" lang="ko-KR" altLang="en-US" sz="2400" b="1" dirty="0">
              <a:solidFill>
                <a:schemeClr val="bg1"/>
              </a:solidFill>
              <a:latin typeface="Gmarket Sans Medium" panose="02000000000000000000" pitchFamily="2" charset="-128"/>
              <a:ea typeface="Gmarket Sans Medium" panose="02000000000000000000" pitchFamily="2" charset="-128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BFD4B9-1DE7-7D16-394B-C78FDC9AA50E}"/>
              </a:ext>
            </a:extLst>
          </p:cNvPr>
          <p:cNvSpPr/>
          <p:nvPr/>
        </p:nvSpPr>
        <p:spPr>
          <a:xfrm>
            <a:off x="0" y="1086792"/>
            <a:ext cx="1048214" cy="264865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971DB06-0E47-D681-BC41-2B07C5008713}"/>
              </a:ext>
            </a:extLst>
          </p:cNvPr>
          <p:cNvSpPr/>
          <p:nvPr/>
        </p:nvSpPr>
        <p:spPr>
          <a:xfrm>
            <a:off x="1569809" y="1086792"/>
            <a:ext cx="9497223" cy="45719"/>
          </a:xfrm>
          <a:prstGeom prst="rect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51833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DF8E6-FA88-2E36-6414-E11ABE7F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3412A0-161D-F83D-960D-6CDB4F85A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38872F3-4F7E-6E9C-BA3D-0DCF7C16DFBB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6A1D1F-F8BA-C348-1807-2F696FD733DF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메인 화면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BB9451F-D011-3E1A-13B8-32C970302C9B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2"/>
          <a:ext cx="3464569" cy="4230157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6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로고 삽입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네비게이션 바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서비스 소개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메인 화면 이동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예측하기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서비스 정보 입력하는 곳으로 이동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결과 이력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ㄴ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로그인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기존 결과 제공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ㄴ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비로그인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로그인을 해주세요 문구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777288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서비스 시작 버튼 클릭 시 화면 이동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328815"/>
                  </a:ext>
                </a:extLst>
              </a:tr>
              <a:tr h="9993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자세히 보기 클릭 시 유의사항 페이지 이동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3704E1FE-F509-70DF-E73F-C409A22DF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74" y="1504750"/>
            <a:ext cx="7772400" cy="4230158"/>
          </a:xfrm>
          <a:prstGeom prst="rect">
            <a:avLst/>
          </a:prstGeom>
        </p:spPr>
      </p:pic>
      <p:sp>
        <p:nvSpPr>
          <p:cNvPr id="6" name="액자 5">
            <a:extLst>
              <a:ext uri="{FF2B5EF4-FFF2-40B4-BE49-F238E27FC236}">
                <a16:creationId xmlns:a16="http://schemas.microsoft.com/office/drawing/2014/main" id="{3041223D-0F93-5E9C-32B7-BB055139DE98}"/>
              </a:ext>
            </a:extLst>
          </p:cNvPr>
          <p:cNvSpPr/>
          <p:nvPr/>
        </p:nvSpPr>
        <p:spPr>
          <a:xfrm>
            <a:off x="451410" y="1548250"/>
            <a:ext cx="837052" cy="298791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EDE14153-47B5-9556-69F7-336DFD171547}"/>
              </a:ext>
            </a:extLst>
          </p:cNvPr>
          <p:cNvSpPr/>
          <p:nvPr/>
        </p:nvSpPr>
        <p:spPr>
          <a:xfrm>
            <a:off x="56418" y="1536308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1" name="액자 20">
            <a:extLst>
              <a:ext uri="{FF2B5EF4-FFF2-40B4-BE49-F238E27FC236}">
                <a16:creationId xmlns:a16="http://schemas.microsoft.com/office/drawing/2014/main" id="{62EB928E-7EA7-B790-CD05-29300A5A6EED}"/>
              </a:ext>
            </a:extLst>
          </p:cNvPr>
          <p:cNvSpPr/>
          <p:nvPr/>
        </p:nvSpPr>
        <p:spPr>
          <a:xfrm>
            <a:off x="5365372" y="1562488"/>
            <a:ext cx="2675385" cy="296494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0BE4481C-0A3E-CDA7-2226-D7A40B040733}"/>
              </a:ext>
            </a:extLst>
          </p:cNvPr>
          <p:cNvSpPr/>
          <p:nvPr/>
        </p:nvSpPr>
        <p:spPr>
          <a:xfrm>
            <a:off x="4958611" y="154825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3" name="액자 22">
            <a:extLst>
              <a:ext uri="{FF2B5EF4-FFF2-40B4-BE49-F238E27FC236}">
                <a16:creationId xmlns:a16="http://schemas.microsoft.com/office/drawing/2014/main" id="{FD515E65-7068-755C-FBEB-0E328DFD9BC2}"/>
              </a:ext>
            </a:extLst>
          </p:cNvPr>
          <p:cNvSpPr/>
          <p:nvPr/>
        </p:nvSpPr>
        <p:spPr>
          <a:xfrm>
            <a:off x="3393795" y="3813824"/>
            <a:ext cx="837052" cy="298791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06B6FD0-2AFA-F00D-F291-F003295BA852}"/>
              </a:ext>
            </a:extLst>
          </p:cNvPr>
          <p:cNvSpPr/>
          <p:nvPr/>
        </p:nvSpPr>
        <p:spPr>
          <a:xfrm>
            <a:off x="2975200" y="3813824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5" name="액자 24">
            <a:extLst>
              <a:ext uri="{FF2B5EF4-FFF2-40B4-BE49-F238E27FC236}">
                <a16:creationId xmlns:a16="http://schemas.microsoft.com/office/drawing/2014/main" id="{FD3C5DFE-9ECE-F96D-C6A5-31CCC495D3D0}"/>
              </a:ext>
            </a:extLst>
          </p:cNvPr>
          <p:cNvSpPr/>
          <p:nvPr/>
        </p:nvSpPr>
        <p:spPr>
          <a:xfrm>
            <a:off x="4255834" y="3812272"/>
            <a:ext cx="837052" cy="298791"/>
          </a:xfrm>
          <a:prstGeom prst="fram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1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634BC73A-0D87-A41D-DA50-62EDD1106A1A}"/>
              </a:ext>
            </a:extLst>
          </p:cNvPr>
          <p:cNvSpPr/>
          <p:nvPr/>
        </p:nvSpPr>
        <p:spPr>
          <a:xfrm>
            <a:off x="5165471" y="3823692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4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1282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C996B-FB6C-D108-D813-34F2F46E6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B8F04E-EAA1-2EA3-F660-5620557B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3745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8B9B7BE-D376-A477-889C-969547A8EED7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94240C-F537-7922-DE0C-2B090AFF5BAD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기본 정보 입력 화면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FD84506-CCEA-E503-7D44-D2FD6F7D0458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5"/>
          <a:ext cx="3464569" cy="4233185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2628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진행 상황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바 형태로 노출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성별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본인 성별 클릭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777288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나이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본인 나이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숫자만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328815"/>
                  </a:ext>
                </a:extLst>
              </a:tr>
              <a:tr h="10832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가구 월평균 소득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입력 방식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선택형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[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선택지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]</a:t>
                      </a: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~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~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350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~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500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미만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500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만원 이상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977124"/>
                  </a:ext>
                </a:extLst>
              </a:tr>
              <a:tr h="9290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 최종 학력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입력 방식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: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선택형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[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선택지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]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초등학교 졸업 이하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중학교 졸업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고등학교 조업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대학교 이상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398824"/>
                  </a:ext>
                </a:extLst>
              </a:tr>
              <a:tr h="64332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6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신체 정보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키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,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몸무게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숫자만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7669732"/>
                  </a:ext>
                </a:extLst>
              </a:tr>
              <a:tr h="3378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7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3600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모두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선택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시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,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다음 버튼 클릭 </a:t>
                      </a:r>
                    </a:p>
                  </a:txBody>
                  <a:tcPr marL="3600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16" name="그림 15">
            <a:extLst>
              <a:ext uri="{FF2B5EF4-FFF2-40B4-BE49-F238E27FC236}">
                <a16:creationId xmlns:a16="http://schemas.microsoft.com/office/drawing/2014/main" id="{58E9CAD4-36A0-D875-7AB7-FFEAB3263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115" y="1503287"/>
            <a:ext cx="7772400" cy="4238394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A132A87C-ABCB-A669-89D1-4B5BDD2654BD}"/>
              </a:ext>
            </a:extLst>
          </p:cNvPr>
          <p:cNvSpPr/>
          <p:nvPr/>
        </p:nvSpPr>
        <p:spPr>
          <a:xfrm>
            <a:off x="6841" y="2302852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920187B-AA60-226B-85ED-2961A833056E}"/>
              </a:ext>
            </a:extLst>
          </p:cNvPr>
          <p:cNvSpPr/>
          <p:nvPr/>
        </p:nvSpPr>
        <p:spPr>
          <a:xfrm>
            <a:off x="6841" y="2757917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8AF4D588-4DBB-6443-EB53-D5591B3B55A3}"/>
              </a:ext>
            </a:extLst>
          </p:cNvPr>
          <p:cNvSpPr/>
          <p:nvPr/>
        </p:nvSpPr>
        <p:spPr>
          <a:xfrm>
            <a:off x="6841" y="323383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0F88B67-DF28-0D29-F750-7693ECA8270D}"/>
              </a:ext>
            </a:extLst>
          </p:cNvPr>
          <p:cNvSpPr/>
          <p:nvPr/>
        </p:nvSpPr>
        <p:spPr>
          <a:xfrm>
            <a:off x="6841" y="3728164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4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B142600-8884-17FE-8EE5-A93718F8B7CE}"/>
              </a:ext>
            </a:extLst>
          </p:cNvPr>
          <p:cNvSpPr/>
          <p:nvPr/>
        </p:nvSpPr>
        <p:spPr>
          <a:xfrm>
            <a:off x="6841" y="4216895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5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296A1E8-B172-F556-E826-E43F742B6112}"/>
              </a:ext>
            </a:extLst>
          </p:cNvPr>
          <p:cNvSpPr/>
          <p:nvPr/>
        </p:nvSpPr>
        <p:spPr>
          <a:xfrm>
            <a:off x="6841" y="476663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6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2510CA4-5B77-EA24-6A55-BE64AE192284}"/>
              </a:ext>
            </a:extLst>
          </p:cNvPr>
          <p:cNvSpPr/>
          <p:nvPr/>
        </p:nvSpPr>
        <p:spPr>
          <a:xfrm>
            <a:off x="421593" y="4757529"/>
            <a:ext cx="3739590" cy="331305"/>
          </a:xfrm>
          <a:prstGeom prst="roundRect">
            <a:avLst/>
          </a:prstGeom>
          <a:solidFill>
            <a:srgbClr val="F9FBFD"/>
          </a:solidFill>
          <a:ln>
            <a:solidFill>
              <a:srgbClr val="EDF1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58B5D1F-AD94-7AB8-2AC1-59A8E0F323A5}"/>
              </a:ext>
            </a:extLst>
          </p:cNvPr>
          <p:cNvSpPr/>
          <p:nvPr/>
        </p:nvSpPr>
        <p:spPr>
          <a:xfrm>
            <a:off x="4291229" y="4757528"/>
            <a:ext cx="3739590" cy="331305"/>
          </a:xfrm>
          <a:prstGeom prst="roundRect">
            <a:avLst/>
          </a:prstGeom>
          <a:solidFill>
            <a:srgbClr val="F9FBFD"/>
          </a:solidFill>
          <a:ln>
            <a:solidFill>
              <a:srgbClr val="EDF1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177A53-4B15-0521-189D-78015703DD93}"/>
              </a:ext>
            </a:extLst>
          </p:cNvPr>
          <p:cNvSpPr txBox="1"/>
          <p:nvPr/>
        </p:nvSpPr>
        <p:spPr>
          <a:xfrm>
            <a:off x="3715018" y="4818879"/>
            <a:ext cx="610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dirty="0">
                <a:solidFill>
                  <a:schemeClr val="bg1">
                    <a:lumMod val="85000"/>
                  </a:schemeClr>
                </a:solidFill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cm</a:t>
            </a:r>
            <a:endParaRPr kumimoji="1" lang="ko-KR" altLang="en-US" sz="1000" dirty="0">
              <a:solidFill>
                <a:schemeClr val="bg1">
                  <a:lumMod val="85000"/>
                </a:schemeClr>
              </a:solidFill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54CD08-C648-5D2A-4F85-BE3DB8E9E59E}"/>
              </a:ext>
            </a:extLst>
          </p:cNvPr>
          <p:cNvSpPr txBox="1"/>
          <p:nvPr/>
        </p:nvSpPr>
        <p:spPr>
          <a:xfrm>
            <a:off x="7663480" y="4818879"/>
            <a:ext cx="610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dirty="0">
                <a:solidFill>
                  <a:schemeClr val="bg1">
                    <a:lumMod val="85000"/>
                  </a:schemeClr>
                </a:solidFill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kg</a:t>
            </a:r>
            <a:endParaRPr kumimoji="1" lang="ko-KR" altLang="en-US" sz="1000" dirty="0">
              <a:solidFill>
                <a:schemeClr val="bg1">
                  <a:lumMod val="85000"/>
                </a:schemeClr>
              </a:solidFill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F0AB1-583F-2675-3BC2-61DEB14560B6}"/>
              </a:ext>
            </a:extLst>
          </p:cNvPr>
          <p:cNvSpPr txBox="1"/>
          <p:nvPr/>
        </p:nvSpPr>
        <p:spPr>
          <a:xfrm>
            <a:off x="362860" y="4555078"/>
            <a:ext cx="117839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 b="1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202946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신체 정보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ACAF77-EF0C-3ABC-4B30-635D931FA5FD}"/>
              </a:ext>
            </a:extLst>
          </p:cNvPr>
          <p:cNvSpPr txBox="1"/>
          <p:nvPr/>
        </p:nvSpPr>
        <p:spPr>
          <a:xfrm>
            <a:off x="519349" y="4836405"/>
            <a:ext cx="329727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700" dirty="0"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165</a:t>
            </a:r>
            <a:endParaRPr kumimoji="1" lang="ko-KR" altLang="en-US" sz="700" dirty="0"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BE08E3-5A0C-D8E7-80CE-9967511D1F81}"/>
              </a:ext>
            </a:extLst>
          </p:cNvPr>
          <p:cNvSpPr txBox="1"/>
          <p:nvPr/>
        </p:nvSpPr>
        <p:spPr>
          <a:xfrm>
            <a:off x="4455092" y="4836405"/>
            <a:ext cx="329964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700" dirty="0">
                <a:latin typeface="Pretendard Variable Light" panose="02000003000000020004" pitchFamily="2" charset="-127"/>
                <a:ea typeface="Pretendard Variable Light" panose="02000003000000020004" pitchFamily="2" charset="-127"/>
                <a:cs typeface="Pretendard Variable Light" panose="02000003000000020004" pitchFamily="2" charset="-127"/>
              </a:rPr>
              <a:t>55</a:t>
            </a:r>
            <a:endParaRPr kumimoji="1" lang="ko-KR" altLang="en-US" sz="900" dirty="0">
              <a:latin typeface="Pretendard Variable Light" panose="02000003000000020004" pitchFamily="2" charset="-127"/>
              <a:ea typeface="Pretendard Variable Light" panose="02000003000000020004" pitchFamily="2" charset="-127"/>
              <a:cs typeface="Pretendard Variable Light" panose="02000003000000020004" pitchFamily="2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382EA1-4690-A314-3360-3B10314F46CB}"/>
              </a:ext>
            </a:extLst>
          </p:cNvPr>
          <p:cNvSpPr/>
          <p:nvPr/>
        </p:nvSpPr>
        <p:spPr>
          <a:xfrm>
            <a:off x="6841" y="5396109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7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07030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53029-A4A7-E424-4F60-D549261A3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33A20D3-6909-9E13-E55F-AD9916368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BFBB7AA-FE5E-59BA-59F6-EDB5D49EAA8E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4F507-4ACD-A6B5-71EF-D1A2471A0F42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평소 생활 습관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입력 화면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-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1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B2C373E-B405-A750-4CE1-D92759AB9EC2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3"/>
          <a:ext cx="3464569" cy="4230155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34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199834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근력운동 일수 선택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199834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유산소 신체활동 실천 여부 선택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F77A933A-B154-7B8C-529F-FA893464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71" y="1455122"/>
            <a:ext cx="7772400" cy="4283525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0F5635F6-76B8-C38A-0539-651E16EDFE26}"/>
              </a:ext>
            </a:extLst>
          </p:cNvPr>
          <p:cNvSpPr/>
          <p:nvPr/>
        </p:nvSpPr>
        <p:spPr>
          <a:xfrm>
            <a:off x="80984" y="3056619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EEC1F05-3692-9964-A94E-6F16E1B618DF}"/>
              </a:ext>
            </a:extLst>
          </p:cNvPr>
          <p:cNvSpPr/>
          <p:nvPr/>
        </p:nvSpPr>
        <p:spPr>
          <a:xfrm>
            <a:off x="80984" y="4376659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0512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C012B-F5A2-E930-52AB-EB814A97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D144D33-49BB-4447-F9C2-6C392563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1249CD9-06CB-4D55-766B-B913B1593D61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DD3ADE-925C-26E6-307A-D1B8AA01BAEE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평소 생활 습관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입력 화면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-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2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73E883E-987C-D411-4CB7-CC0F5CCE67E4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1"/>
          <a:ext cx="3464569" cy="4228716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7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19979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흡연 정보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3-1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클릭시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현재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일반담배을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피우시나요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?”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질문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아니오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클릭시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해당 질문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비노출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19979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음주 정보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4-1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 클릭 시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,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아래 폭음 빈도 질문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아니오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클릭시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미노출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sp>
        <p:nvSpPr>
          <p:cNvPr id="28" name="타원 27">
            <a:extLst>
              <a:ext uri="{FF2B5EF4-FFF2-40B4-BE49-F238E27FC236}">
                <a16:creationId xmlns:a16="http://schemas.microsoft.com/office/drawing/2014/main" id="{A4BFF9FC-9B3D-568A-9963-F9A1CE01E95F}"/>
              </a:ext>
            </a:extLst>
          </p:cNvPr>
          <p:cNvSpPr/>
          <p:nvPr/>
        </p:nvSpPr>
        <p:spPr>
          <a:xfrm>
            <a:off x="31555" y="3431602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4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552D9D7-CE55-CD70-9102-5976E5F15A39}"/>
              </a:ext>
            </a:extLst>
          </p:cNvPr>
          <p:cNvSpPr/>
          <p:nvPr/>
        </p:nvSpPr>
        <p:spPr>
          <a:xfrm>
            <a:off x="31555" y="1540951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17D1AF1F-731F-C837-C230-241BC7844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74" y="1509931"/>
            <a:ext cx="7772400" cy="422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44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1F725-A76C-DFFB-7808-81017D4C1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F2B8542-9C64-FF4B-5C7C-C531D7A8A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6CCA9196-FFF1-FCB8-AA3E-B9B05C4D1363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F0B518-1A18-4A10-AD92-4B127FE2E1CB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평소 생활 습관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입력 화면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-</a:t>
            </a:r>
            <a:r>
              <a:rPr lang="ko-KR" altLang="en-US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</a:t>
            </a:r>
            <a:r>
              <a:rPr lang="en-US" altLang="ko-KR" sz="1600" dirty="0">
                <a:solidFill>
                  <a:srgbClr val="4D5F8F"/>
                </a:solidFill>
                <a:effectLst/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3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34520A1-E111-17B0-AA10-DDCF736670D2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2"/>
          <a:ext cx="3464569" cy="4233185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8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2000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5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평일 평균 수면시간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평일 평균 수면시간 입력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숫자만 입력 가능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2000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6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다음 버튼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모든 항목 입력 시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”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다음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”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버튼 활성화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E75ADA35-5C00-8486-B56D-90DB3F87A7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74" y="1504749"/>
            <a:ext cx="7772400" cy="4228716"/>
          </a:xfrm>
          <a:prstGeom prst="rect">
            <a:avLst/>
          </a:prstGeom>
        </p:spPr>
      </p:pic>
      <p:sp>
        <p:nvSpPr>
          <p:cNvPr id="29" name="타원 28">
            <a:extLst>
              <a:ext uri="{FF2B5EF4-FFF2-40B4-BE49-F238E27FC236}">
                <a16:creationId xmlns:a16="http://schemas.microsoft.com/office/drawing/2014/main" id="{AD02541B-B2F3-2FD5-C94D-D350585A3266}"/>
              </a:ext>
            </a:extLst>
          </p:cNvPr>
          <p:cNvSpPr/>
          <p:nvPr/>
        </p:nvSpPr>
        <p:spPr>
          <a:xfrm>
            <a:off x="66495" y="424161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5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F456148-3D68-39C5-74BF-262F0F735DA9}"/>
              </a:ext>
            </a:extLst>
          </p:cNvPr>
          <p:cNvSpPr/>
          <p:nvPr/>
        </p:nvSpPr>
        <p:spPr>
          <a:xfrm>
            <a:off x="66495" y="500105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6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9408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6D8A2-4D5A-BC51-9704-480DF61F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ADFD69A-EDB0-4CB1-239F-2ACB949AE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9842418-5E2C-1081-EAA7-352AB48677CA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2F30EE-5795-7D75-3AD2-7DE7E8AD9C11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영양소 정보 입력 화면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32F849B-839A-76FC-33ED-91F36855131E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3"/>
          <a:ext cx="3464569" cy="4233186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325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13335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칼로리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총 칼로리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숫자만 입력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)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13335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영양소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섭취한 영양소 정보 입력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5245529"/>
                  </a:ext>
                </a:extLst>
              </a:tr>
              <a:tr h="13335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3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영양소 자동 분석 시작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입력된 정보로 영양소 분석 및 고콜레스테롤 예측 시작 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3BB02045-6043-46D3-DDE6-16D627361B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56" y="1504750"/>
            <a:ext cx="7772400" cy="350457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2C9F60A-B84A-6BB0-3731-11171FFAD0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691" y="4899643"/>
            <a:ext cx="7772400" cy="842036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66FF7222-714F-91D1-FCB7-2DF36E756234}"/>
              </a:ext>
            </a:extLst>
          </p:cNvPr>
          <p:cNvSpPr/>
          <p:nvPr/>
        </p:nvSpPr>
        <p:spPr>
          <a:xfrm>
            <a:off x="43858" y="2745403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0984B4D-BD55-C5F3-3B5B-133406F5ED0C}"/>
              </a:ext>
            </a:extLst>
          </p:cNvPr>
          <p:cNvSpPr/>
          <p:nvPr/>
        </p:nvSpPr>
        <p:spPr>
          <a:xfrm>
            <a:off x="43858" y="3283088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CC43C86-3433-BBE4-1569-E3E08032E638}"/>
              </a:ext>
            </a:extLst>
          </p:cNvPr>
          <p:cNvSpPr/>
          <p:nvPr/>
        </p:nvSpPr>
        <p:spPr>
          <a:xfrm>
            <a:off x="43858" y="4978676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3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066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FCE43-132F-2E99-2C5E-7C14D403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860D813-553A-C990-D49F-1C3F3F79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1" cy="6861745"/>
          </a:xfrm>
          <a:prstGeom prst="rect">
            <a:avLst/>
          </a:prstGeom>
        </p:spPr>
      </p:pic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65B865D9-A0C2-851D-DD62-BC7A805CAB8A}"/>
              </a:ext>
            </a:extLst>
          </p:cNvPr>
          <p:cNvSpPr/>
          <p:nvPr/>
        </p:nvSpPr>
        <p:spPr>
          <a:xfrm flipH="1">
            <a:off x="375874" y="407856"/>
            <a:ext cx="45719" cy="641829"/>
          </a:xfrm>
          <a:prstGeom prst="roundRect">
            <a:avLst/>
          </a:prstGeom>
          <a:solidFill>
            <a:srgbClr val="20307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4C1006-86D8-15E3-06BF-7584030223F4}"/>
              </a:ext>
            </a:extLst>
          </p:cNvPr>
          <p:cNvSpPr txBox="1"/>
          <p:nvPr/>
        </p:nvSpPr>
        <p:spPr>
          <a:xfrm>
            <a:off x="519779" y="358229"/>
            <a:ext cx="98231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600" b="1" dirty="0">
                <a:solidFill>
                  <a:srgbClr val="202946"/>
                </a:solidFill>
                <a:effectLst/>
                <a:latin typeface="Pretendard Variable ExtraBold" panose="02000003000000020004" pitchFamily="2" charset="-127"/>
                <a:ea typeface="Pretendard Variable ExtraBold" panose="02000003000000020004" pitchFamily="2" charset="-127"/>
                <a:cs typeface="Pretendard Variable ExtraBold" panose="02000003000000020004" pitchFamily="2" charset="-127"/>
              </a:rPr>
              <a:t>화면 설계서</a:t>
            </a:r>
            <a:endParaRPr lang="en-US" altLang="ko-KR" sz="2600" b="1" dirty="0">
              <a:solidFill>
                <a:srgbClr val="202946"/>
              </a:solidFill>
              <a:effectLst/>
              <a:latin typeface="Pretendard Variable ExtraBold" panose="02000003000000020004" pitchFamily="2" charset="-127"/>
              <a:ea typeface="Pretendard Variable ExtraBold" panose="02000003000000020004" pitchFamily="2" charset="-127"/>
              <a:cs typeface="Pretendard Variable ExtraBold" panose="02000003000000020004" pitchFamily="2" charset="-127"/>
            </a:endParaRPr>
          </a:p>
          <a:p>
            <a:r>
              <a:rPr lang="ko-KR" altLang="en-US" sz="1600" dirty="0">
                <a:solidFill>
                  <a:srgbClr val="4D5F8F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위험도 분석 결과</a:t>
            </a:r>
            <a:endParaRPr lang="ko-KR" altLang="en-US" sz="1600" dirty="0">
              <a:solidFill>
                <a:srgbClr val="4D5F8F"/>
              </a:solidFill>
              <a:effectLst/>
              <a:latin typeface="Pretendard Variable SemiBold" panose="02000003000000020004" pitchFamily="2" charset="-127"/>
              <a:ea typeface="Pretendard Variable SemiBold" panose="02000003000000020004" pitchFamily="2" charset="-127"/>
              <a:cs typeface="Pretendard Variable SemiBold" panose="02000003000000020004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D71C0DB-57EE-C044-1842-3F1F0298CB70}"/>
              </a:ext>
            </a:extLst>
          </p:cNvPr>
          <p:cNvGraphicFramePr>
            <a:graphicFrameLocks noGrp="1"/>
          </p:cNvGraphicFramePr>
          <p:nvPr/>
        </p:nvGraphicFramePr>
        <p:xfrm>
          <a:off x="8463343" y="1508493"/>
          <a:ext cx="3464569" cy="4233184"/>
        </p:xfrm>
        <a:graphic>
          <a:graphicData uri="http://schemas.openxmlformats.org/drawingml/2006/table">
            <a:tbl>
              <a:tblPr>
                <a:solidFill>
                  <a:srgbClr val="D9E2F0"/>
                </a:solidFill>
                <a:tableStyleId>{073A0DAA-6AF3-43AB-8588-CEC1D06C72B9}</a:tableStyleId>
              </a:tblPr>
              <a:tblGrid>
                <a:gridCol w="640007">
                  <a:extLst>
                    <a:ext uri="{9D8B030D-6E8A-4147-A177-3AD203B41FA5}">
                      <a16:colId xmlns:a16="http://schemas.microsoft.com/office/drawing/2014/main" val="3609243270"/>
                    </a:ext>
                  </a:extLst>
                </a:gridCol>
                <a:gridCol w="2824562">
                  <a:extLst>
                    <a:ext uri="{9D8B030D-6E8A-4147-A177-3AD203B41FA5}">
                      <a16:colId xmlns:a16="http://schemas.microsoft.com/office/drawing/2014/main" val="3085350586"/>
                    </a:ext>
                  </a:extLst>
                </a:gridCol>
              </a:tblGrid>
              <a:tr h="2274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구분</a:t>
                      </a: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내용</a:t>
                      </a: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331099"/>
                  </a:ext>
                </a:extLst>
              </a:tr>
              <a:tr h="20028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1</a:t>
                      </a:r>
                      <a:endParaRPr lang="ko-KR" alt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예측 결과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총 콜레스테롤 예측 결과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위험도 등급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영양소 섭취 패턴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427849"/>
                  </a:ext>
                </a:extLst>
              </a:tr>
              <a:tr h="20028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2</a:t>
                      </a:r>
                      <a:endParaRPr lang="en-US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메인화면으로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돌아가기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</a:t>
                      </a:r>
                      <a:r>
                        <a:rPr lang="en-US" altLang="ko-KR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-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완료 후 </a:t>
                      </a:r>
                      <a:r>
                        <a:rPr lang="ko-KR" altLang="en-US" sz="1000" b="1" i="0" kern="1200" dirty="0" err="1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메인화면으로</a:t>
                      </a:r>
                      <a:r>
                        <a:rPr lang="ko-KR" altLang="en-US" sz="1000" b="1" i="0" kern="1200" dirty="0">
                          <a:ln>
                            <a:solidFill>
                              <a:srgbClr val="4472C4">
                                <a:alpha val="0"/>
                              </a:srgbClr>
                            </a:solidFill>
                          </a:ln>
                          <a:solidFill>
                            <a:srgbClr val="202946"/>
                          </a:solidFill>
                          <a:latin typeface="Pretendard Variable SemiBold" panose="02000003000000020004" pitchFamily="2" charset="-127"/>
                          <a:ea typeface="Pretendard Variable SemiBold" panose="02000003000000020004" pitchFamily="2" charset="-127"/>
                          <a:cs typeface="Pretendard Variable SemiBold" panose="02000003000000020004" pitchFamily="2" charset="-127"/>
                        </a:rPr>
                        <a:t> 돌아가는 버튼 노출</a:t>
                      </a:r>
                      <a:endParaRPr lang="en-US" altLang="ko-KR" sz="1000" b="1" i="0" kern="1200" dirty="0">
                        <a:ln>
                          <a:solidFill>
                            <a:srgbClr val="4472C4">
                              <a:alpha val="0"/>
                            </a:srgbClr>
                          </a:solidFill>
                        </a:ln>
                        <a:solidFill>
                          <a:srgbClr val="202946"/>
                        </a:solidFill>
                        <a:latin typeface="Pretendard Variable SemiBold" panose="02000003000000020004" pitchFamily="2" charset="-127"/>
                        <a:ea typeface="Pretendard Variable SemiBold" panose="02000003000000020004" pitchFamily="2" charset="-127"/>
                        <a:cs typeface="Pretendard Variable SemiBold" panose="02000003000000020004" pitchFamily="2" charset="-127"/>
                      </a:endParaRPr>
                    </a:p>
                  </a:txBody>
                  <a:tcPr marL="4265" marR="4265" marT="426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587223"/>
                  </a:ext>
                </a:extLst>
              </a:tr>
            </a:tbl>
          </a:graphicData>
        </a:graphic>
      </p:graphicFrame>
      <p:sp>
        <p:nvSpPr>
          <p:cNvPr id="15" name="타원 14">
            <a:extLst>
              <a:ext uri="{FF2B5EF4-FFF2-40B4-BE49-F238E27FC236}">
                <a16:creationId xmlns:a16="http://schemas.microsoft.com/office/drawing/2014/main" id="{0224C502-6FEA-1242-BBD3-8E063165FD29}"/>
              </a:ext>
            </a:extLst>
          </p:cNvPr>
          <p:cNvSpPr/>
          <p:nvPr/>
        </p:nvSpPr>
        <p:spPr>
          <a:xfrm>
            <a:off x="53201" y="2197580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1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1E0AFC7-B367-139A-140F-B02E2F26F921}"/>
              </a:ext>
            </a:extLst>
          </p:cNvPr>
          <p:cNvSpPr/>
          <p:nvPr/>
        </p:nvSpPr>
        <p:spPr>
          <a:xfrm>
            <a:off x="26600" y="5233301"/>
            <a:ext cx="322673" cy="32267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latin typeface="Pretendard Variable Black" panose="02000003000000020004" pitchFamily="2" charset="-127"/>
                <a:ea typeface="Pretendard Variable Black" panose="02000003000000020004" pitchFamily="2" charset="-127"/>
                <a:cs typeface="Pretendard Variable Black" panose="02000003000000020004" pitchFamily="2" charset="-127"/>
              </a:rPr>
              <a:t>2</a:t>
            </a:r>
            <a:endParaRPr lang="ko-KR" altLang="en-US" b="1" dirty="0">
              <a:solidFill>
                <a:schemeClr val="bg1"/>
              </a:solidFill>
              <a:latin typeface="Pretendard Variable Black" panose="02000003000000020004" pitchFamily="2" charset="-127"/>
              <a:ea typeface="Pretendard Variable Black" panose="02000003000000020004" pitchFamily="2" charset="-127"/>
              <a:cs typeface="Pretendard Variable Black" panose="02000003000000020004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7E06D1B-FBD8-2BE1-2FFF-7DC7AA5258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411"/>
          <a:stretch>
            <a:fillRect/>
          </a:stretch>
        </p:blipFill>
        <p:spPr>
          <a:xfrm>
            <a:off x="375874" y="1504749"/>
            <a:ext cx="7772400" cy="423318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04265C6-3409-4CC8-DD04-2A0C7BB523B4}"/>
              </a:ext>
            </a:extLst>
          </p:cNvPr>
          <p:cNvSpPr/>
          <p:nvPr/>
        </p:nvSpPr>
        <p:spPr>
          <a:xfrm flipV="1">
            <a:off x="3856383" y="5464366"/>
            <a:ext cx="685800" cy="176269"/>
          </a:xfrm>
          <a:prstGeom prst="rect">
            <a:avLst/>
          </a:prstGeom>
          <a:solidFill>
            <a:srgbClr val="1E39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580BBF-4D3B-6937-8A68-1CCFD52EE686}"/>
              </a:ext>
            </a:extLst>
          </p:cNvPr>
          <p:cNvSpPr txBox="1"/>
          <p:nvPr/>
        </p:nvSpPr>
        <p:spPr>
          <a:xfrm>
            <a:off x="3395577" y="5442852"/>
            <a:ext cx="61088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1" dirty="0" err="1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메인화면으로</a:t>
            </a:r>
            <a:r>
              <a:rPr lang="ko-KR" altLang="en-US" sz="900" b="1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 Variable SemiBold" panose="02000003000000020004" pitchFamily="2" charset="-127"/>
                <a:ea typeface="Pretendard Variable SemiBold" panose="02000003000000020004" pitchFamily="2" charset="-127"/>
                <a:cs typeface="Pretendard Variable SemiBold" panose="02000003000000020004" pitchFamily="2" charset="-127"/>
              </a:rPr>
              <a:t> 돌아가기</a:t>
            </a:r>
          </a:p>
        </p:txBody>
      </p:sp>
    </p:spTree>
    <p:extLst>
      <p:ext uri="{BB962C8B-B14F-4D97-AF65-F5344CB8AC3E}">
        <p14:creationId xmlns:p14="http://schemas.microsoft.com/office/powerpoint/2010/main" val="349482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479</Words>
  <Application>Microsoft Macintosh PowerPoint</Application>
  <PresentationFormat>와이드스크린</PresentationFormat>
  <Paragraphs>145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6" baseType="lpstr">
      <vt:lpstr>맑은 고딕</vt:lpstr>
      <vt:lpstr>Gmarket Sans Medium</vt:lpstr>
      <vt:lpstr>Pretendard Variable Black</vt:lpstr>
      <vt:lpstr>Pretendard Variable ExtraBold</vt:lpstr>
      <vt:lpstr>Pretendard Variable Light</vt:lpstr>
      <vt:lpstr>Pretendard Variable SemiBold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성시영(칼리버스-칼리버스)</dc:creator>
  <cp:lastModifiedBy>성시영(칼리버스-칼리버스)</cp:lastModifiedBy>
  <cp:revision>8</cp:revision>
  <dcterms:created xsi:type="dcterms:W3CDTF">2026-03-15T14:08:55Z</dcterms:created>
  <dcterms:modified xsi:type="dcterms:W3CDTF">2026-03-20T05:15:09Z</dcterms:modified>
</cp:coreProperties>
</file>